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37160" cy="54864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110029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Objective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Noto Sans Arabic" pitchFamily="34" charset="0"/>
                <a:ea typeface="Noto Sans Arabic" pitchFamily="34" charset="-122"/>
                <a:cs typeface="Noto Sans Arabic" pitchFamily="34" charset="-120"/>
              </a:rPr>
              <a:t>لماذا يحتاج تايجر إلى نظام لإدارة طلبات العملاء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141732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Tiger needs this system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7286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customer requests arrive by phone, email, and word of mouth, and are tracked in different places, or not tracked at all.
</a:t>
            </a:r>
            <a:endParaRPr lang="en-US" sz="16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system gives Tiger </a:t>
            </a:r>
            <a:pPr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E3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clear place</a:t>
            </a:r>
            <a:pPr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log every request, know who owns it, and see it through to resolution — so customers get faster answers and management gets full visibility.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731520" y="3703320"/>
            <a:ext cx="32004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11680" y="3904488"/>
            <a:ext cx="640080" cy="640080"/>
          </a:xfrm>
          <a:prstGeom prst="ellipse">
            <a:avLst/>
          </a:prstGeom>
          <a:solidFill>
            <a:srgbClr val="9BA4AF"/>
          </a:solidFill>
          <a:ln/>
        </p:spPr>
      </p:sp>
      <p:sp>
        <p:nvSpPr>
          <p:cNvPr id="9" name="Text 7"/>
          <p:cNvSpPr/>
          <p:nvPr/>
        </p:nvSpPr>
        <p:spPr>
          <a:xfrm>
            <a:off x="2011680" y="39044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617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49377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scattered across phone, email, and memory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931920" y="4411980"/>
            <a:ext cx="502920" cy="0"/>
          </a:xfrm>
          <a:prstGeom prst="line">
            <a:avLst/>
          </a:prstGeom>
          <a:noFill/>
          <a:ln w="3175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434840" y="3593592"/>
            <a:ext cx="2834640" cy="1636776"/>
          </a:xfrm>
          <a:prstGeom prst="roundRect">
            <a:avLst>
              <a:gd name="adj" fmla="val 5587"/>
            </a:avLst>
          </a:prstGeom>
          <a:solidFill>
            <a:srgbClr val="1C2B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532120" y="3794760"/>
            <a:ext cx="640080" cy="64008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15" name="Text 13"/>
          <p:cNvSpPr/>
          <p:nvPr/>
        </p:nvSpPr>
        <p:spPr>
          <a:xfrm>
            <a:off x="553212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434840" y="450799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Tiger CS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Ticketing System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7269480" y="4411980"/>
            <a:ext cx="502920" cy="0"/>
          </a:xfrm>
          <a:prstGeom prst="line">
            <a:avLst/>
          </a:prstGeom>
          <a:noFill/>
          <a:ln w="3175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772400" y="3703320"/>
            <a:ext cx="3200400" cy="1417320"/>
          </a:xfrm>
          <a:prstGeom prst="roundRect">
            <a:avLst>
              <a:gd name="adj" fmla="val 6452"/>
            </a:avLst>
          </a:prstGeom>
          <a:solidFill>
            <a:srgbClr val="EAF3EC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052560" y="3904488"/>
            <a:ext cx="640080" cy="640080"/>
          </a:xfrm>
          <a:prstGeom prst="ellipse">
            <a:avLst/>
          </a:prstGeom>
          <a:solidFill>
            <a:srgbClr val="3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9052560" y="39044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772400" y="4617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Result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955280" y="49377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response, clear ownership, full visibility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37160" cy="54864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110029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System Works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Noto Sans Arabic" pitchFamily="34" charset="0"/>
                <a:ea typeface="Noto Sans Arabic" pitchFamily="34" charset="-122"/>
                <a:cs typeface="Noto Sans Arabic" pitchFamily="34" charset="-120"/>
              </a:rPr>
              <a:t>رحلة الطلب من الاتصال حتى الإغلاق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15975" y="1783080"/>
            <a:ext cx="548640" cy="548640"/>
          </a:xfrm>
          <a:prstGeom prst="ellipse">
            <a:avLst/>
          </a:prstGeom>
          <a:solidFill>
            <a:srgbClr val="3A3F44"/>
          </a:solidFill>
          <a:ln/>
        </p:spPr>
      </p:sp>
      <p:sp>
        <p:nvSpPr>
          <p:cNvPr id="6" name="Text 4"/>
          <p:cNvSpPr/>
          <p:nvPr/>
        </p:nvSpPr>
        <p:spPr>
          <a:xfrm>
            <a:off x="1015975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651760"/>
            <a:ext cx="1666189" cy="1371600"/>
          </a:xfrm>
          <a:prstGeom prst="roundRect">
            <a:avLst>
              <a:gd name="adj" fmla="val 4667"/>
            </a:avLst>
          </a:prstGeom>
          <a:solidFill>
            <a:srgbClr val="3A3F44"/>
          </a:solidFill>
          <a:ln w="12700">
            <a:solidFill>
              <a:srgbClr val="3A3F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651760"/>
            <a:ext cx="1666189" cy="13716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23389" y="3337560"/>
            <a:ext cx="256032" cy="0"/>
          </a:xfrm>
          <a:prstGeom prst="line">
            <a:avLst/>
          </a:prstGeom>
          <a:noFill/>
          <a:ln w="3175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938196" y="1783080"/>
            <a:ext cx="548640" cy="548640"/>
          </a:xfrm>
          <a:prstGeom prst="ellipse">
            <a:avLst/>
          </a:prstGeom>
          <a:solidFill>
            <a:srgbClr val="3A3F44"/>
          </a:solidFill>
          <a:ln/>
        </p:spPr>
      </p:sp>
      <p:sp>
        <p:nvSpPr>
          <p:cNvPr id="11" name="Text 9"/>
          <p:cNvSpPr/>
          <p:nvPr/>
        </p:nvSpPr>
        <p:spPr>
          <a:xfrm>
            <a:off x="2938196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379421" y="2651760"/>
            <a:ext cx="1666189" cy="1371600"/>
          </a:xfrm>
          <a:prstGeom prst="roundRect">
            <a:avLst>
              <a:gd name="adj" fmla="val 4667"/>
            </a:avLst>
          </a:prstGeom>
          <a:solidFill>
            <a:srgbClr val="3A3F44"/>
          </a:solidFill>
          <a:ln w="12700">
            <a:solidFill>
              <a:srgbClr val="3A3F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79421" y="2651760"/>
            <a:ext cx="1666189" cy="13716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verifies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/ unit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45610" y="3337560"/>
            <a:ext cx="256032" cy="0"/>
          </a:xfrm>
          <a:prstGeom prst="line">
            <a:avLst/>
          </a:prstGeom>
          <a:noFill/>
          <a:ln w="3175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860417" y="1783080"/>
            <a:ext cx="548640" cy="54864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6" name="Text 14"/>
          <p:cNvSpPr/>
          <p:nvPr/>
        </p:nvSpPr>
        <p:spPr>
          <a:xfrm>
            <a:off x="486041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301642" y="2651760"/>
            <a:ext cx="1666189" cy="1371600"/>
          </a:xfrm>
          <a:prstGeom prst="roundRect">
            <a:avLst>
              <a:gd name="adj" fmla="val 4667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01642" y="2651760"/>
            <a:ext cx="1666189" cy="13716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967832" y="3337560"/>
            <a:ext cx="256032" cy="0"/>
          </a:xfrm>
          <a:prstGeom prst="line">
            <a:avLst/>
          </a:prstGeom>
          <a:noFill/>
          <a:ln w="3175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782638" y="1783080"/>
            <a:ext cx="548640" cy="54864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67826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6223864" y="2651760"/>
            <a:ext cx="1666189" cy="1371600"/>
          </a:xfrm>
          <a:prstGeom prst="roundRect">
            <a:avLst>
              <a:gd name="adj" fmla="val 4667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23864" y="2651760"/>
            <a:ext cx="1666189" cy="13716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to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90053" y="3337560"/>
            <a:ext cx="256032" cy="0"/>
          </a:xfrm>
          <a:prstGeom prst="line">
            <a:avLst/>
          </a:prstGeom>
          <a:noFill/>
          <a:ln w="3175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704859" y="1783080"/>
            <a:ext cx="548640" cy="54864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26" name="Text 24"/>
          <p:cNvSpPr/>
          <p:nvPr/>
        </p:nvSpPr>
        <p:spPr>
          <a:xfrm>
            <a:off x="8704859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8146085" y="2651760"/>
            <a:ext cx="1666189" cy="1371600"/>
          </a:xfrm>
          <a:prstGeom prst="roundRect">
            <a:avLst>
              <a:gd name="adj" fmla="val 4667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46085" y="2651760"/>
            <a:ext cx="1666189" cy="13716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monitored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812274" y="3337560"/>
            <a:ext cx="256032" cy="0"/>
          </a:xfrm>
          <a:prstGeom prst="line">
            <a:avLst/>
          </a:prstGeom>
          <a:noFill/>
          <a:ln w="3175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0627081" y="1783080"/>
            <a:ext cx="548640" cy="548640"/>
          </a:xfrm>
          <a:prstGeom prst="ellipse">
            <a:avLst/>
          </a:prstGeom>
          <a:solidFill>
            <a:srgbClr val="3E7D5B"/>
          </a:solidFill>
          <a:ln/>
        </p:spPr>
      </p:sp>
      <p:sp>
        <p:nvSpPr>
          <p:cNvPr id="31" name="Text 29"/>
          <p:cNvSpPr/>
          <p:nvPr/>
        </p:nvSpPr>
        <p:spPr>
          <a:xfrm>
            <a:off x="10627081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10068306" y="2651760"/>
            <a:ext cx="1666189" cy="1371600"/>
          </a:xfrm>
          <a:prstGeom prst="roundRect">
            <a:avLst>
              <a:gd name="adj" fmla="val 4667"/>
            </a:avLst>
          </a:prstGeom>
          <a:solidFill>
            <a:srgbClr val="3E7D5B"/>
          </a:solidFill>
          <a:ln w="12700">
            <a:solidFill>
              <a:srgbClr val="3E7D5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068306" y="2651760"/>
            <a:ext cx="1666189" cy="13716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closed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31520" y="4572000"/>
            <a:ext cx="10728655" cy="1188720"/>
          </a:xfrm>
          <a:prstGeom prst="roundRect">
            <a:avLst>
              <a:gd name="adj" fmla="val 7692"/>
            </a:avLst>
          </a:prstGeom>
          <a:solidFill>
            <a:srgbClr val="FDEFE6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1005840" y="4572000"/>
            <a:ext cx="101800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plain terms:  </a:t>
            </a:r>
            <a:pPr indent="0" marL="0">
              <a:buNone/>
            </a:pPr>
            <a:r>
              <a:rPr lang="en-US" sz="15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follows the same simple path — no request is lost, and everyone knows where it stands at every step.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37160" cy="54864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110029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Systems Connected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Noto Sans Arabic" pitchFamily="34" charset="0"/>
                <a:ea typeface="Noto Sans Arabic" pitchFamily="34" charset="-122"/>
                <a:cs typeface="Noto Sans Arabic" pitchFamily="34" charset="-120"/>
              </a:rPr>
              <a:t>الأنظمة الأربعة التي يعمل معها النظام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24764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38212" y="2606040"/>
            <a:ext cx="914400" cy="91440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7" name="Text 5"/>
          <p:cNvSpPr/>
          <p:nvPr/>
        </p:nvSpPr>
        <p:spPr>
          <a:xfrm>
            <a:off x="1238212" y="2606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3657600"/>
            <a:ext cx="2293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Genesys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94360" y="4160520"/>
            <a:ext cx="2202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the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call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933624" y="3063240"/>
            <a:ext cx="457200" cy="0"/>
          </a:xfrm>
          <a:prstGeom prst="line">
            <a:avLst/>
          </a:prstGeom>
          <a:noFill/>
          <a:ln w="31750">
            <a:solidFill>
              <a:srgbClr val="E36A1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390824" y="2286000"/>
            <a:ext cx="24764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171836" y="2606040"/>
            <a:ext cx="914400" cy="914400"/>
          </a:xfrm>
          <a:prstGeom prst="ellipse">
            <a:avLst/>
          </a:prstGeom>
          <a:solidFill>
            <a:srgbClr val="3A3F44"/>
          </a:solidFill>
          <a:ln/>
        </p:spPr>
      </p:sp>
      <p:sp>
        <p:nvSpPr>
          <p:cNvPr id="13" name="Text 11"/>
          <p:cNvSpPr/>
          <p:nvPr/>
        </p:nvSpPr>
        <p:spPr>
          <a:xfrm>
            <a:off x="4171836" y="2606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82264" y="3657600"/>
            <a:ext cx="2293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527984" y="4160520"/>
            <a:ext cx="2202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the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and unit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867248" y="3063240"/>
            <a:ext cx="457200" cy="0"/>
          </a:xfrm>
          <a:prstGeom prst="line">
            <a:avLst/>
          </a:prstGeom>
          <a:noFill/>
          <a:ln w="31750">
            <a:solidFill>
              <a:srgbClr val="E36A1E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324448" y="2286000"/>
            <a:ext cx="2476424" cy="2286000"/>
          </a:xfrm>
          <a:prstGeom prst="roundRect">
            <a:avLst>
              <a:gd name="adj" fmla="val 4000"/>
            </a:avLst>
          </a:prstGeom>
          <a:solidFill>
            <a:srgbClr val="EAF0FB"/>
          </a:solidFill>
          <a:ln w="12700">
            <a:solidFill>
              <a:srgbClr val="1C2B4A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05460" y="2606040"/>
            <a:ext cx="914400" cy="91440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7105460" y="2606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15888" y="3657600"/>
            <a:ext cx="2293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Ticketing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61608" y="4160520"/>
            <a:ext cx="2202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the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end-to-end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800871" y="3063240"/>
            <a:ext cx="457200" cy="0"/>
          </a:xfrm>
          <a:prstGeom prst="line">
            <a:avLst/>
          </a:prstGeom>
          <a:noFill/>
          <a:ln w="31750">
            <a:solidFill>
              <a:srgbClr val="E36A1E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258071" y="2286000"/>
            <a:ext cx="24764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0039083" y="2606040"/>
            <a:ext cx="914400" cy="914400"/>
          </a:xfrm>
          <a:prstGeom prst="ellipse">
            <a:avLst/>
          </a:prstGeom>
          <a:solidFill>
            <a:srgbClr val="6E7681"/>
          </a:solidFill>
          <a:ln/>
        </p:spPr>
      </p:sp>
      <p:sp>
        <p:nvSpPr>
          <p:cNvPr id="25" name="Text 23"/>
          <p:cNvSpPr/>
          <p:nvPr/>
        </p:nvSpPr>
        <p:spPr>
          <a:xfrm>
            <a:off x="10039083" y="2606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349511" y="3657600"/>
            <a:ext cx="2293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395231" y="4160520"/>
            <a:ext cx="2202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confirmation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customer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31520" y="489204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Ticketing System is the hub — it connects the call, the customer record, and the confirmation email into one request.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37160" cy="54864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110029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Users and Responsibilities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Noto Sans Arabic" pitchFamily="34" charset="0"/>
                <a:ea typeface="Noto Sans Arabic" pitchFamily="34" charset="-122"/>
                <a:cs typeface="Noto Sans Arabic" pitchFamily="34" charset="-120"/>
              </a:rPr>
              <a:t>من يستخدم النظام وماذا يفعل كل شخص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10728655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1668780"/>
            <a:ext cx="731520" cy="73152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6687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011680" y="1645920"/>
            <a:ext cx="8351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Service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011680" y="2075688"/>
            <a:ext cx="8351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tickets and follows them until resolved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31520" y="2743200"/>
            <a:ext cx="10728655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005840" y="2903220"/>
            <a:ext cx="731520" cy="7315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9032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011680" y="2880360"/>
            <a:ext cx="8351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Staff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011680" y="3310128"/>
            <a:ext cx="8351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requests assigned to their department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31520" y="3977640"/>
            <a:ext cx="10728655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05840" y="4137660"/>
            <a:ext cx="731520" cy="731520"/>
          </a:xfrm>
          <a:prstGeom prst="ellipse">
            <a:avLst/>
          </a:prstGeom>
          <a:solidFill>
            <a:srgbClr val="3A3F44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41376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011680" y="4114800"/>
            <a:ext cx="8351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Head / Management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2011680" y="4544568"/>
            <a:ext cx="8351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escalations when action is needed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31520" y="5212080"/>
            <a:ext cx="10728655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005840" y="5372100"/>
            <a:ext cx="731520" cy="731520"/>
          </a:xfrm>
          <a:prstGeom prst="ellipse">
            <a:avLst/>
          </a:prstGeom>
          <a:solidFill>
            <a:srgbClr val="6E7681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53721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2011680" y="5349240"/>
            <a:ext cx="8351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Administrator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2011680" y="5779008"/>
            <a:ext cx="8351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users, access, and system settings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37160" cy="54864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110029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Benefits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Noto Sans Arabic" pitchFamily="34" charset="0"/>
                <a:ea typeface="Noto Sans Arabic" pitchFamily="34" charset="-122"/>
                <a:cs typeface="Noto Sans Arabic" pitchFamily="34" charset="-120"/>
              </a:rPr>
              <a:t>الفوائد التي يحصل عليها تايجر من النظام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4573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874520"/>
            <a:ext cx="640080" cy="64008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56032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for all customer requests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322978" y="1600200"/>
            <a:ext cx="354573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7298" y="1874520"/>
            <a:ext cx="640080" cy="64008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11" name="Text 9"/>
          <p:cNvSpPr/>
          <p:nvPr/>
        </p:nvSpPr>
        <p:spPr>
          <a:xfrm>
            <a:off x="4597298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51578" y="256032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ownership of every ticket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188757" y="1600200"/>
            <a:ext cx="354573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63077" y="1874520"/>
            <a:ext cx="640080" cy="64008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15" name="Text 13"/>
          <p:cNvSpPr/>
          <p:nvPr/>
        </p:nvSpPr>
        <p:spPr>
          <a:xfrm>
            <a:off x="8463077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417357" y="256032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Response-time tracking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457200" y="3520440"/>
            <a:ext cx="354573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3794760"/>
            <a:ext cx="640080" cy="64008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85800" y="448056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escalation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4322978" y="3520440"/>
            <a:ext cx="354573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97298" y="3794760"/>
            <a:ext cx="640080" cy="64008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23" name="Text 21"/>
          <p:cNvSpPr/>
          <p:nvPr/>
        </p:nvSpPr>
        <p:spPr>
          <a:xfrm>
            <a:off x="4597298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551578" y="448056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history of every request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8188757" y="3520440"/>
            <a:ext cx="354573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63077" y="3794760"/>
            <a:ext cx="640080" cy="64008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27" name="Text 25"/>
          <p:cNvSpPr/>
          <p:nvPr/>
        </p:nvSpPr>
        <p:spPr>
          <a:xfrm>
            <a:off x="8463077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417357" y="448056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reports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37160" cy="54864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110029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Plan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Noto Sans Arabic" pitchFamily="34" charset="0"/>
                <a:ea typeface="Noto Sans Arabic" pitchFamily="34" charset="-122"/>
                <a:cs typeface="Noto Sans Arabic" pitchFamily="34" charset="-120"/>
              </a:rPr>
              <a:t>خطة التنفيذ الزمنية للمشروع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714500" y="2286000"/>
            <a:ext cx="8762695" cy="0"/>
          </a:xfrm>
          <a:prstGeom prst="line">
            <a:avLst/>
          </a:prstGeom>
          <a:noFill/>
          <a:ln w="38100">
            <a:solidFill>
              <a:srgbClr val="D8DC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91640"/>
            <a:ext cx="2514600" cy="1188720"/>
          </a:xfrm>
          <a:prstGeom prst="roundRect">
            <a:avLst>
              <a:gd name="adj" fmla="val 5385"/>
            </a:avLst>
          </a:prstGeom>
          <a:solidFill>
            <a:srgbClr val="3E7D5B"/>
          </a:solidFill>
          <a:ln w="12700">
            <a:solidFill>
              <a:srgbClr val="3E7D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91640"/>
            <a:ext cx="2514600" cy="11887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378098" y="1691640"/>
            <a:ext cx="2514600" cy="1188720"/>
          </a:xfrm>
          <a:prstGeom prst="roundRect">
            <a:avLst>
              <a:gd name="adj" fmla="val 5385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78098" y="1691640"/>
            <a:ext cx="2514600" cy="11887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and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98997" y="1691640"/>
            <a:ext cx="2514600" cy="1188720"/>
          </a:xfrm>
          <a:prstGeom prst="roundRect">
            <a:avLst>
              <a:gd name="adj" fmla="val 5385"/>
            </a:avLst>
          </a:prstGeom>
          <a:solidFill>
            <a:srgbClr val="9BA4AF"/>
          </a:solidFill>
          <a:ln w="12700">
            <a:solidFill>
              <a:srgbClr val="9BA4A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98997" y="1691640"/>
            <a:ext cx="2514600" cy="11887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and Ticket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Creation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219895" y="1691640"/>
            <a:ext cx="2514600" cy="1188720"/>
          </a:xfrm>
          <a:prstGeom prst="roundRect">
            <a:avLst>
              <a:gd name="adj" fmla="val 5385"/>
            </a:avLst>
          </a:prstGeom>
          <a:solidFill>
            <a:srgbClr val="9BA4AF"/>
          </a:solidFill>
          <a:ln w="12700">
            <a:solidFill>
              <a:srgbClr val="9BA4A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19895" y="1691640"/>
            <a:ext cx="2514600" cy="11887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Afterward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SLA, Genesys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UAT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3246120"/>
            <a:ext cx="11277295" cy="777240"/>
          </a:xfrm>
          <a:prstGeom prst="roundRect">
            <a:avLst>
              <a:gd name="adj" fmla="val 11765"/>
            </a:avLst>
          </a:prstGeom>
          <a:solidFill>
            <a:srgbClr val="FDEFE6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24612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model:  </a:t>
            </a:r>
            <a:pPr algn="l" indent="0" marL="0">
              <a:buNone/>
            </a:pPr>
            <a:r>
              <a:rPr lang="en-US" sz="180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four-week internal pilot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4343400"/>
            <a:ext cx="11277295" cy="1508760"/>
          </a:xfrm>
          <a:prstGeom prst="roundRect">
            <a:avLst>
              <a:gd name="adj" fmla="val 6061"/>
            </a:avLst>
          </a:prstGeom>
          <a:solidFill>
            <a:srgbClr val="1C2B4A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77240" y="4645152"/>
            <a:ext cx="640080" cy="64008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6451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600200" y="4526280"/>
            <a:ext cx="9814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go-live requires separate approval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00200" y="4983480"/>
            <a:ext cx="9814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pilot proves the system works internally. Moving it into live, company-wide use is a separate decision, made only after the pilot is reviewed.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37160" cy="548640"/>
          </a:xfrm>
          <a:prstGeom prst="rect">
            <a:avLst/>
          </a:prstGeom>
          <a:solidFill>
            <a:srgbClr val="3A3F4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110029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A3F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— Technical Reference (Optional)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IT / Solution Architect use — not intended for the management audience above.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15258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78308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30580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Core, .NET 10 (LTS)</a:t>
            </a:r>
            <a:endParaRPr lang="en-US" sz="11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monolith — one deployable unit with strict internal module boundaries</a:t>
            </a:r>
            <a:endParaRPr lang="en-US" sz="11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Layers: Web UI, API, Application Modules, Domain, Infrastructure, Integrations, SQL Server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38218" y="1600200"/>
            <a:ext cx="3515258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66818" y="178308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&amp; Security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66818" y="2240280"/>
            <a:ext cx="30580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Transactional Outbox + idempotency keys protect every integration call</a:t>
            </a:r>
            <a:endParaRPr lang="en-US" sz="11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Identity, JWT authentication, policy-based authorization</a:t>
            </a:r>
            <a:endParaRPr lang="en-US" sz="11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flags gate staged rollout of each integration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19237" y="1600200"/>
            <a:ext cx="3515258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47837" y="178308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447837" y="2240280"/>
            <a:ext cx="30580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detail: System-Architecture.md, Module-Design.md, Security-Architecture.md, ADR log (docs/architecture/)</a:t>
            </a:r>
            <a:endParaRPr lang="en-US" sz="11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technical deck: Tiger-CS-Application-Architecture.pptx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2026-08-19T09:18:54Z</dcterms:created>
  <dcterms:modified xsi:type="dcterms:W3CDTF">2026-08-19T09:18:54Z</dcterms:modified>
</cp:coreProperties>
</file>