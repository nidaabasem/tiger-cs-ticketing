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54864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لماذا يحتاج تايجر إلى نظام لإدارة طلبات العملاء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Tiger needs this system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customer requests arrive by phone, email, and word of mouth, and are tracked in different places, or not tracked at all.
</a:t>
            </a:r>
            <a:endParaRPr lang="en-US" sz="1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gives Tiger </a:t>
            </a:r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E3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place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log every request, know who owns it, and see it through to resolution — so customers get faster answers and management gets full visibility.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0" y="3904488"/>
            <a:ext cx="640080" cy="640080"/>
          </a:xfrm>
          <a:prstGeom prst="ellipse">
            <a:avLst/>
          </a:prstGeom>
          <a:solidFill>
            <a:srgbClr val="9BA4AF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3904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scattered across phone, email, and memory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4411980"/>
            <a:ext cx="502920" cy="0"/>
          </a:xfrm>
          <a:prstGeom prst="line">
            <a:avLst/>
          </a:prstGeom>
          <a:noFill/>
          <a:ln w="3175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3593592"/>
            <a:ext cx="2834640" cy="1636776"/>
          </a:xfrm>
          <a:prstGeom prst="roundRect">
            <a:avLst>
              <a:gd name="adj" fmla="val 5587"/>
            </a:avLst>
          </a:prstGeom>
          <a:solidFill>
            <a:srgbClr val="1C2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532120" y="3794760"/>
            <a:ext cx="640080" cy="64008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4507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Tiger CS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Ticketing System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269480" y="4411980"/>
            <a:ext cx="502920" cy="0"/>
          </a:xfrm>
          <a:prstGeom prst="line">
            <a:avLst/>
          </a:prstGeom>
          <a:noFill/>
          <a:ln w="3175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370332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EAF3EC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52560" y="3904488"/>
            <a:ext cx="640080" cy="640080"/>
          </a:xfrm>
          <a:prstGeom prst="ellipse">
            <a:avLst/>
          </a:prstGeom>
          <a:solidFill>
            <a:srgbClr val="3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3904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4937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response, clear ownership, full visibility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54864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رحلة الطلب من الاتصال حتى الإغلاق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15975" y="1783080"/>
            <a:ext cx="548640" cy="54864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6" name="Text 4"/>
          <p:cNvSpPr/>
          <p:nvPr/>
        </p:nvSpPr>
        <p:spPr>
          <a:xfrm>
            <a:off x="1015975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666189" cy="1371600"/>
          </a:xfrm>
          <a:prstGeom prst="roundRect">
            <a:avLst>
              <a:gd name="adj" fmla="val 4667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1666189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23389" y="3337560"/>
            <a:ext cx="256032" cy="0"/>
          </a:xfrm>
          <a:prstGeom prst="line">
            <a:avLst/>
          </a:prstGeom>
          <a:noFill/>
          <a:ln w="3175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38196" y="1783080"/>
            <a:ext cx="548640" cy="54864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1" name="Text 9"/>
          <p:cNvSpPr/>
          <p:nvPr/>
        </p:nvSpPr>
        <p:spPr>
          <a:xfrm>
            <a:off x="293819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379421" y="2651760"/>
            <a:ext cx="1666189" cy="1371600"/>
          </a:xfrm>
          <a:prstGeom prst="roundRect">
            <a:avLst>
              <a:gd name="adj" fmla="val 4667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9421" y="2651760"/>
            <a:ext cx="1666189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verifies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unit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45610" y="3337560"/>
            <a:ext cx="256032" cy="0"/>
          </a:xfrm>
          <a:prstGeom prst="line">
            <a:avLst/>
          </a:prstGeom>
          <a:noFill/>
          <a:ln w="3175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60417" y="1783080"/>
            <a:ext cx="548640" cy="54864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486041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301642" y="2651760"/>
            <a:ext cx="1666189" cy="1371600"/>
          </a:xfrm>
          <a:prstGeom prst="roundRect">
            <a:avLst>
              <a:gd name="adj" fmla="val 4667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1642" y="2651760"/>
            <a:ext cx="1666189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67832" y="3337560"/>
            <a:ext cx="256032" cy="0"/>
          </a:xfrm>
          <a:prstGeom prst="line">
            <a:avLst/>
          </a:prstGeom>
          <a:noFill/>
          <a:ln w="3175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82638" y="1783080"/>
            <a:ext cx="548640" cy="54864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8263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23864" y="2651760"/>
            <a:ext cx="1666189" cy="1371600"/>
          </a:xfrm>
          <a:prstGeom prst="roundRect">
            <a:avLst>
              <a:gd name="adj" fmla="val 4667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3864" y="2651760"/>
            <a:ext cx="1666189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90053" y="3337560"/>
            <a:ext cx="256032" cy="0"/>
          </a:xfrm>
          <a:prstGeom prst="line">
            <a:avLst/>
          </a:prstGeom>
          <a:noFill/>
          <a:ln w="3175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04859" y="1783080"/>
            <a:ext cx="548640" cy="54864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26" name="Text 24"/>
          <p:cNvSpPr/>
          <p:nvPr/>
        </p:nvSpPr>
        <p:spPr>
          <a:xfrm>
            <a:off x="8704859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146085" y="2651760"/>
            <a:ext cx="1666189" cy="1371600"/>
          </a:xfrm>
          <a:prstGeom prst="roundRect">
            <a:avLst>
              <a:gd name="adj" fmla="val 4667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6085" y="2651760"/>
            <a:ext cx="1666189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12274" y="3337560"/>
            <a:ext cx="256032" cy="0"/>
          </a:xfrm>
          <a:prstGeom prst="line">
            <a:avLst/>
          </a:prstGeom>
          <a:noFill/>
          <a:ln w="3175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627081" y="1783080"/>
            <a:ext cx="548640" cy="548640"/>
          </a:xfrm>
          <a:prstGeom prst="ellipse">
            <a:avLst/>
          </a:prstGeom>
          <a:solidFill>
            <a:srgbClr val="3E7D5B"/>
          </a:solidFill>
          <a:ln/>
        </p:spPr>
      </p:sp>
      <p:sp>
        <p:nvSpPr>
          <p:cNvPr id="31" name="Text 29"/>
          <p:cNvSpPr/>
          <p:nvPr/>
        </p:nvSpPr>
        <p:spPr>
          <a:xfrm>
            <a:off x="10627081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068306" y="2651760"/>
            <a:ext cx="1666189" cy="1371600"/>
          </a:xfrm>
          <a:prstGeom prst="roundRect">
            <a:avLst>
              <a:gd name="adj" fmla="val 4667"/>
            </a:avLst>
          </a:prstGeom>
          <a:solidFill>
            <a:srgbClr val="3E7D5B"/>
          </a:solidFill>
          <a:ln w="12700">
            <a:solidFill>
              <a:srgbClr val="3E7D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68306" y="2651760"/>
            <a:ext cx="1666189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closed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" y="4572000"/>
            <a:ext cx="10728655" cy="1188720"/>
          </a:xfrm>
          <a:prstGeom prst="roundRect">
            <a:avLst>
              <a:gd name="adj" fmla="val 7692"/>
            </a:avLst>
          </a:prstGeom>
          <a:solidFill>
            <a:srgbClr val="FDEFE6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05840" y="4572000"/>
            <a:ext cx="10180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 </a:t>
            </a:r>
            <a:pPr indent="0" marL="0">
              <a:buNone/>
            </a:pPr>
            <a:r>
              <a:rPr lang="en-US" sz="15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follows the same simple path — no request is lost, and everyone knows where it stands at every step.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54864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Connected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الأنظمة الأربعة التي يعمل معها النظام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4764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8212" y="2606040"/>
            <a:ext cx="914400" cy="91440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7" name="Text 5"/>
          <p:cNvSpPr/>
          <p:nvPr/>
        </p:nvSpPr>
        <p:spPr>
          <a:xfrm>
            <a:off x="1238212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16052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33624" y="3063240"/>
            <a:ext cx="457200" cy="0"/>
          </a:xfrm>
          <a:prstGeom prst="line">
            <a:avLst/>
          </a:prstGeom>
          <a:noFill/>
          <a:ln w="31750">
            <a:solidFill>
              <a:srgbClr val="E36A1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90824" y="2286000"/>
            <a:ext cx="24764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71836" y="2606040"/>
            <a:ext cx="914400" cy="91440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3" name="Text 11"/>
          <p:cNvSpPr/>
          <p:nvPr/>
        </p:nvSpPr>
        <p:spPr>
          <a:xfrm>
            <a:off x="4171836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82264" y="365760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7984" y="416052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unit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67248" y="3063240"/>
            <a:ext cx="457200" cy="0"/>
          </a:xfrm>
          <a:prstGeom prst="line">
            <a:avLst/>
          </a:prstGeom>
          <a:noFill/>
          <a:ln w="31750">
            <a:solidFill>
              <a:srgbClr val="E36A1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24448" y="2286000"/>
            <a:ext cx="2476424" cy="22860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05460" y="2606040"/>
            <a:ext cx="914400" cy="9144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71054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15888" y="365760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1608" y="416052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end-to-end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00871" y="3063240"/>
            <a:ext cx="457200" cy="0"/>
          </a:xfrm>
          <a:prstGeom prst="line">
            <a:avLst/>
          </a:prstGeom>
          <a:noFill/>
          <a:ln w="31750">
            <a:solidFill>
              <a:srgbClr val="E36A1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58071" y="2286000"/>
            <a:ext cx="24764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39083" y="2606040"/>
            <a:ext cx="914400" cy="914400"/>
          </a:xfrm>
          <a:prstGeom prst="ellipse">
            <a:avLst/>
          </a:prstGeom>
          <a:solidFill>
            <a:srgbClr val="6E768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39083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49511" y="365760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95231" y="416052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confirmation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customer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4892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Ticketing System is the hub — it connects the call, the customer record, and the confirmation email into one request.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54864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and Responsibilities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 يستخدم النظام وماذا يفعل كل شخص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7286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668780"/>
            <a:ext cx="731520" cy="73152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687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1645920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Service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2075688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tickets and follows them until resolved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07286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903220"/>
            <a:ext cx="731520" cy="73152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032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2880360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Staff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3310128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requests assigned to their department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107286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4137660"/>
            <a:ext cx="731520" cy="7315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137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4114800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Head / Management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11680" y="4544568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escalations when action is needed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212080"/>
            <a:ext cx="107286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5372100"/>
            <a:ext cx="731520" cy="731520"/>
          </a:xfrm>
          <a:prstGeom prst="ellipse">
            <a:avLst/>
          </a:prstGeom>
          <a:solidFill>
            <a:srgbClr val="6E76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3721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011680" y="5349240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Administrator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011680" y="5779008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access, and system settings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54864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Benefits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الفوائد التي يحصل عليها تايجر من النظام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all customer requests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22978" y="160020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7298" y="1874520"/>
            <a:ext cx="640080" cy="64008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9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1578" y="2560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of every ticket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8757" y="160020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3077" y="1874520"/>
            <a:ext cx="640080" cy="64008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5" name="Text 13"/>
          <p:cNvSpPr/>
          <p:nvPr/>
        </p:nvSpPr>
        <p:spPr>
          <a:xfrm>
            <a:off x="8463077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7357" y="2560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tracking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94760"/>
            <a:ext cx="640080" cy="64008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escalation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322978" y="352044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7298" y="3794760"/>
            <a:ext cx="640080" cy="64008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23" name="Text 21"/>
          <p:cNvSpPr/>
          <p:nvPr/>
        </p:nvSpPr>
        <p:spPr>
          <a:xfrm>
            <a:off x="4597298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51578" y="44805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every request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188757" y="352044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63077" y="3794760"/>
            <a:ext cx="640080" cy="64008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27" name="Text 25"/>
          <p:cNvSpPr/>
          <p:nvPr/>
        </p:nvSpPr>
        <p:spPr>
          <a:xfrm>
            <a:off x="8463077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17357" y="44805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54864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خطة التنفيذ الزمنية للمشروع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714500" y="2286000"/>
            <a:ext cx="8762695" cy="0"/>
          </a:xfrm>
          <a:prstGeom prst="line">
            <a:avLst/>
          </a:prstGeom>
          <a:noFill/>
          <a:ln w="38100">
            <a:solidFill>
              <a:srgbClr val="D8DC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3E7D5B"/>
          </a:solidFill>
          <a:ln w="12700">
            <a:solidFill>
              <a:srgbClr val="3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25146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78098" y="169164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8098" y="1691640"/>
            <a:ext cx="25146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98997" y="169164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9BA4AF"/>
          </a:solidFill>
          <a:ln w="12700">
            <a:solidFill>
              <a:srgbClr val="9BA4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8997" y="1691640"/>
            <a:ext cx="25146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and Ticket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19895" y="169164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9BA4AF"/>
          </a:solidFill>
          <a:ln w="12700">
            <a:solidFill>
              <a:srgbClr val="9BA4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9895" y="1691640"/>
            <a:ext cx="25146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Afterward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Genesys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UAT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11277295" cy="1280160"/>
          </a:xfrm>
          <a:prstGeom prst="roundRect">
            <a:avLst>
              <a:gd name="adj" fmla="val 7143"/>
            </a:avLst>
          </a:prstGeom>
          <a:solidFill>
            <a:srgbClr val="FDEFE6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2004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Three-Week Internal Pilot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3584448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version will be delivered for internal testing within three weeks, developed by one developer with AI-assisted development. Following successful testing and management approval, a separate production-readiness phase will prepare the system for official go-live.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1C2B4A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782312"/>
            <a:ext cx="640080" cy="64008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82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466344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go-live requires separate approval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512064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pilot proves the system works internally. Moving it into live, company-wide use is a separate decision, made only after the pilot is reviewed.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548640"/>
          </a:xfrm>
          <a:prstGeom prst="rect">
            <a:avLst/>
          </a:prstGeom>
          <a:solidFill>
            <a:srgbClr val="3A3F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3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Technical Reference (Optional)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 / Solution Architect use — not intended for the management audience above.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51525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830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0580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Core, .NET 10 (LTS)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— one deployable unit with strict internal module boundaries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Web UI, API, Application Modules, Domain, Infrastructure, Integrations, SQL 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1600200"/>
            <a:ext cx="351525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6818" y="17830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Security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6818" y="2240280"/>
            <a:ext cx="30580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Outbox + idempotency keys protect every integration call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Identity, JWT authentication, policy-based authorization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gate staged rollout of each integration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19237" y="1600200"/>
            <a:ext cx="351525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47837" y="17830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47837" y="2240280"/>
            <a:ext cx="30580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System-Architecture.md, Module-Design.md, Security-Architecture.md, ADR log (docs/architecture/)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deck: Tiger-CS-Application-Architecture.pptx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2026-08-19T10:23:28Z</dcterms:created>
  <dcterms:modified xsi:type="dcterms:W3CDTF">2026-08-19T10:23:28Z</dcterms:modified>
</cp:coreProperties>
</file>