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645920"/>
            <a:ext cx="4754880" cy="4754880"/>
          </a:xfrm>
          <a:prstGeom prst="ellipse">
            <a:avLst/>
          </a:prstGeom>
          <a:solidFill>
            <a:srgbClr val="10182C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822960"/>
            <a:ext cx="2743200" cy="274320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4" name="Shape 2"/>
          <p:cNvSpPr/>
          <p:nvPr/>
        </p:nvSpPr>
        <p:spPr>
          <a:xfrm>
            <a:off x="-1463040" y="4937760"/>
            <a:ext cx="3291840" cy="3291840"/>
          </a:xfrm>
          <a:prstGeom prst="ellipse">
            <a:avLst/>
          </a:prstGeom>
          <a:solidFill>
            <a:srgbClr val="1018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331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TIGER CS TICKETING SYSTEM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F2B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and Solution Architecture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82296" cy="77724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ASP.NET Core, .NET 10 (LTS)
</a:t>
            </a:r>
            <a:endParaRPr lang="en-US" sz="15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Pilot Architecture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28016" cy="45720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Objective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55768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664208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Centralize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08760" y="2148840"/>
            <a:ext cx="4084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customer-service requests captured in a single system of record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78728" y="1371600"/>
            <a:ext cx="5455768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98768" y="1691640"/>
            <a:ext cx="548640" cy="54864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11" name="Text 9"/>
          <p:cNvSpPr/>
          <p:nvPr/>
        </p:nvSpPr>
        <p:spPr>
          <a:xfrm>
            <a:off x="6598768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30288" y="1664208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330288" y="2148840"/>
            <a:ext cx="4084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(Genesys), CRM, and internal departments into one workflow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3749040"/>
            <a:ext cx="5455768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069080"/>
            <a:ext cx="548640" cy="54864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041648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08760" y="4526280"/>
            <a:ext cx="4084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Ownership, SLA due dates, escalation, and resolution for every ticket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78728" y="3749040"/>
            <a:ext cx="5455768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98768" y="4069080"/>
            <a:ext cx="548640" cy="54864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21" name="Text 19"/>
          <p:cNvSpPr/>
          <p:nvPr/>
        </p:nvSpPr>
        <p:spPr>
          <a:xfrm>
            <a:off x="659876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30288" y="4041648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Provide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7330288" y="4526280"/>
            <a:ext cx="4084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Auditability and management visibility across the full ticket lifecycle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28016" cy="45720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Context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USERS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25196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BOUNDARY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503920" y="1234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SYSTEMS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3200400" cy="603504"/>
          </a:xfrm>
          <a:prstGeom prst="roundRect">
            <a:avLst>
              <a:gd name="adj" fmla="val 9091"/>
            </a:avLst>
          </a:prstGeom>
          <a:solidFill>
            <a:srgbClr val="3A3F44"/>
          </a:solidFill>
          <a:ln w="12700">
            <a:solidFill>
              <a:srgbClr val="3A3F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600200"/>
            <a:ext cx="320040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Agent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50008"/>
            <a:ext cx="3200400" cy="603504"/>
          </a:xfrm>
          <a:prstGeom prst="roundRect">
            <a:avLst>
              <a:gd name="adj" fmla="val 9091"/>
            </a:avLst>
          </a:prstGeom>
          <a:solidFill>
            <a:srgbClr val="3A3F44"/>
          </a:solidFill>
          <a:ln w="12700">
            <a:solidFill>
              <a:srgbClr val="3A3F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50008"/>
            <a:ext cx="320040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Employee / Head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099816"/>
            <a:ext cx="3200400" cy="603504"/>
          </a:xfrm>
          <a:prstGeom prst="roundRect">
            <a:avLst>
              <a:gd name="adj" fmla="val 9091"/>
            </a:avLst>
          </a:prstGeom>
          <a:solidFill>
            <a:srgbClr val="3A3F44"/>
          </a:solidFill>
          <a:ln w="12700">
            <a:solidFill>
              <a:srgbClr val="3A3F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099816"/>
            <a:ext cx="320040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(CS Mgr · GM · Chairman)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49624"/>
            <a:ext cx="3200400" cy="603504"/>
          </a:xfrm>
          <a:prstGeom prst="roundRect">
            <a:avLst>
              <a:gd name="adj" fmla="val 9091"/>
            </a:avLst>
          </a:prstGeom>
          <a:solidFill>
            <a:srgbClr val="3A3F44"/>
          </a:solidFill>
          <a:ln w="12700">
            <a:solidFill>
              <a:srgbClr val="3A3F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849624"/>
            <a:ext cx="320040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Admin / Reporting User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51960" y="1554480"/>
            <a:ext cx="3657600" cy="4297680"/>
          </a:xfrm>
          <a:prstGeom prst="roundRect">
            <a:avLst>
              <a:gd name="adj" fmla="val 2500"/>
            </a:avLst>
          </a:prstGeom>
          <a:solidFill>
            <a:srgbClr val="EAF0FB"/>
          </a:solidFill>
          <a:ln w="25400">
            <a:solidFill>
              <a:srgbClr val="1C2B4A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251960" y="1664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Tiger CS Ticketing System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617720" y="2194560"/>
            <a:ext cx="2926080" cy="777240"/>
          </a:xfrm>
          <a:prstGeom prst="roundRect">
            <a:avLst>
              <a:gd name="adj" fmla="val 7059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17720" y="2194560"/>
            <a:ext cx="29260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Monolith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(ASP.NET Core, .NET 10)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26280" y="31089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 · API · Application Modules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· Infrastructure · Integrations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54880" y="3840480"/>
            <a:ext cx="2651760" cy="548640"/>
          </a:xfrm>
          <a:prstGeom prst="roundRect">
            <a:avLst>
              <a:gd name="adj" fmla="val 1000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3840480"/>
            <a:ext cx="265176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80560" y="45262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customer login or portal exists — all customer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is agent-mediated (phone via Genesys)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an outbound email notification.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503920" y="1600200"/>
            <a:ext cx="3200400" cy="603504"/>
          </a:xfrm>
          <a:prstGeom prst="roundRect">
            <a:avLst>
              <a:gd name="adj" fmla="val 9091"/>
            </a:avLst>
          </a:prstGeom>
          <a:solidFill>
            <a:srgbClr val="6E7681"/>
          </a:solidFill>
          <a:ln w="12700">
            <a:solidFill>
              <a:srgbClr val="6E76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0" y="1600200"/>
            <a:ext cx="320040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503920" y="2350008"/>
            <a:ext cx="3200400" cy="603504"/>
          </a:xfrm>
          <a:prstGeom prst="roundRect">
            <a:avLst>
              <a:gd name="adj" fmla="val 9091"/>
            </a:avLst>
          </a:prstGeom>
          <a:solidFill>
            <a:srgbClr val="6E7681"/>
          </a:solidFill>
          <a:ln w="12700">
            <a:solidFill>
              <a:srgbClr val="6E76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03920" y="2350008"/>
            <a:ext cx="320040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Genesys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503920" y="3099816"/>
            <a:ext cx="3200400" cy="603504"/>
          </a:xfrm>
          <a:prstGeom prst="roundRect">
            <a:avLst>
              <a:gd name="adj" fmla="val 9091"/>
            </a:avLst>
          </a:prstGeom>
          <a:solidFill>
            <a:srgbClr val="6E7681"/>
          </a:solidFill>
          <a:ln w="12700">
            <a:solidFill>
              <a:srgbClr val="6E768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03920" y="3099816"/>
            <a:ext cx="320040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365 Email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503920" y="3849624"/>
            <a:ext cx="3200400" cy="603504"/>
          </a:xfrm>
          <a:prstGeom prst="roundRect">
            <a:avLst>
              <a:gd name="adj" fmla="val 9091"/>
            </a:avLst>
          </a:prstGeom>
          <a:solidFill>
            <a:srgbClr val="6E7681"/>
          </a:solidFill>
          <a:ln w="12700">
            <a:solidFill>
              <a:srgbClr val="6E76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03920" y="3849624"/>
            <a:ext cx="320040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57200" y="4617720"/>
            <a:ext cx="32004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25400">
            <a:solidFill>
              <a:srgbClr val="E36A1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61772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3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(phone)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3657600" y="4901184"/>
            <a:ext cx="594360" cy="0"/>
          </a:xfrm>
          <a:prstGeom prst="line">
            <a:avLst/>
          </a:prstGeom>
          <a:noFill/>
          <a:ln w="25400">
            <a:solidFill>
              <a:srgbClr val="E36A1E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457200" y="52578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Genesys (phone)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0" y="2788920"/>
            <a:ext cx="594360" cy="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909560" y="2743200"/>
            <a:ext cx="594360" cy="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37" name="Text 35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28016" cy="45720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89611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monolith — one deployable unit, clean internal module boundaries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94415" cy="512064"/>
          </a:xfrm>
          <a:prstGeom prst="roundRect">
            <a:avLst>
              <a:gd name="adj" fmla="val 10714"/>
            </a:avLst>
          </a:prstGeom>
          <a:solidFill>
            <a:srgbClr val="6E7681"/>
          </a:solidFill>
          <a:ln w="12700">
            <a:solidFill>
              <a:srgbClr val="6E76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25880"/>
            <a:ext cx="11094415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11094415" cy="512064"/>
          </a:xfrm>
          <a:prstGeom prst="roundRect">
            <a:avLst>
              <a:gd name="adj" fmla="val 10714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965960"/>
            <a:ext cx="11094415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API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11094415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66090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MODULES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5800" y="2926080"/>
            <a:ext cx="2076237" cy="470916"/>
          </a:xfrm>
          <a:prstGeom prst="roundRect">
            <a:avLst>
              <a:gd name="adj" fmla="val 1165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926080"/>
            <a:ext cx="2076237" cy="4709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Access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871765" y="2926080"/>
            <a:ext cx="2076237" cy="470916"/>
          </a:xfrm>
          <a:prstGeom prst="roundRect">
            <a:avLst>
              <a:gd name="adj" fmla="val 1165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71765" y="2926080"/>
            <a:ext cx="2076237" cy="4709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Verification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57729" y="2926080"/>
            <a:ext cx="2076237" cy="470916"/>
          </a:xfrm>
          <a:prstGeom prst="roundRect">
            <a:avLst>
              <a:gd name="adj" fmla="val 1165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57729" y="2926080"/>
            <a:ext cx="2076237" cy="4709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243694" y="2926080"/>
            <a:ext cx="2076237" cy="470916"/>
          </a:xfrm>
          <a:prstGeom prst="roundRect">
            <a:avLst>
              <a:gd name="adj" fmla="val 1165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43694" y="2926080"/>
            <a:ext cx="2076237" cy="4709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Ticketing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429659" y="2926080"/>
            <a:ext cx="2076237" cy="470916"/>
          </a:xfrm>
          <a:prstGeom prst="roundRect">
            <a:avLst>
              <a:gd name="adj" fmla="val 1165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29659" y="2926080"/>
            <a:ext cx="2076237" cy="4709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&amp; Escalation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85800" y="3506724"/>
            <a:ext cx="2076237" cy="470916"/>
          </a:xfrm>
          <a:prstGeom prst="roundRect">
            <a:avLst>
              <a:gd name="adj" fmla="val 1165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506724"/>
            <a:ext cx="2076237" cy="4709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Genesys Integration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871765" y="3506724"/>
            <a:ext cx="2076237" cy="470916"/>
          </a:xfrm>
          <a:prstGeom prst="roundRect">
            <a:avLst>
              <a:gd name="adj" fmla="val 1165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71765" y="3506724"/>
            <a:ext cx="2076237" cy="4709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57729" y="3506724"/>
            <a:ext cx="2076237" cy="470916"/>
          </a:xfrm>
          <a:prstGeom prst="roundRect">
            <a:avLst>
              <a:gd name="adj" fmla="val 1165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57729" y="3506724"/>
            <a:ext cx="2076237" cy="4709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Attachments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243694" y="3506724"/>
            <a:ext cx="2076237" cy="470916"/>
          </a:xfrm>
          <a:prstGeom prst="roundRect">
            <a:avLst>
              <a:gd name="adj" fmla="val 1165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43694" y="3506724"/>
            <a:ext cx="2076237" cy="4709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429659" y="3506724"/>
            <a:ext cx="2076237" cy="470916"/>
          </a:xfrm>
          <a:prstGeom prst="roundRect">
            <a:avLst>
              <a:gd name="adj" fmla="val 1165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429659" y="3506724"/>
            <a:ext cx="2076237" cy="4709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151376"/>
            <a:ext cx="11094415" cy="512064"/>
          </a:xfrm>
          <a:prstGeom prst="roundRect">
            <a:avLst>
              <a:gd name="adj" fmla="val 10714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151376"/>
            <a:ext cx="11094415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48640" y="4791456"/>
            <a:ext cx="11094415" cy="512064"/>
          </a:xfrm>
          <a:prstGeom prst="roundRect">
            <a:avLst>
              <a:gd name="adj" fmla="val 10714"/>
            </a:avLst>
          </a:prstGeom>
          <a:solidFill>
            <a:srgbClr val="3A3F44"/>
          </a:solidFill>
          <a:ln w="12700">
            <a:solidFill>
              <a:srgbClr val="3A3F4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4791456"/>
            <a:ext cx="11094415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  |   Integrations (CRM · Genesys · Email · Storage)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48640" y="5431536"/>
            <a:ext cx="11094415" cy="512064"/>
          </a:xfrm>
          <a:prstGeom prst="roundRect">
            <a:avLst>
              <a:gd name="adj" fmla="val 10714"/>
            </a:avLst>
          </a:prstGeom>
          <a:solidFill>
            <a:srgbClr val="6E7681"/>
          </a:solidFill>
          <a:ln w="12700">
            <a:solidFill>
              <a:srgbClr val="6E768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5431536"/>
            <a:ext cx="11094415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28016" cy="45720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Ticket 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084832" cy="868680"/>
          </a:xfrm>
          <a:prstGeom prst="roundRect">
            <a:avLst>
              <a:gd name="adj" fmla="val 6316"/>
            </a:avLst>
          </a:prstGeom>
          <a:solidFill>
            <a:srgbClr val="3A3F44"/>
          </a:solidFill>
          <a:ln w="12700">
            <a:solidFill>
              <a:srgbClr val="3A3F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50876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Genesys / Manual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42032" y="1943100"/>
            <a:ext cx="213284" cy="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55316" y="1508760"/>
            <a:ext cx="2084832" cy="868680"/>
          </a:xfrm>
          <a:prstGeom prst="roundRect">
            <a:avLst>
              <a:gd name="adj" fmla="val 6316"/>
            </a:avLst>
          </a:prstGeom>
          <a:solidFill>
            <a:srgbClr val="3A3F44"/>
          </a:solidFill>
          <a:ln w="12700">
            <a:solidFill>
              <a:srgbClr val="3A3F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55316" y="150876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0148" y="1943100"/>
            <a:ext cx="213284" cy="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053432" y="1508760"/>
            <a:ext cx="2084832" cy="868680"/>
          </a:xfrm>
          <a:prstGeom prst="roundRect">
            <a:avLst>
              <a:gd name="adj" fmla="val 6316"/>
            </a:avLst>
          </a:prstGeom>
          <a:solidFill>
            <a:srgbClr val="3A3F44"/>
          </a:solidFill>
          <a:ln w="12700">
            <a:solidFill>
              <a:srgbClr val="3A3F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53432" y="150876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138264" y="1943100"/>
            <a:ext cx="213284" cy="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351547" y="1508760"/>
            <a:ext cx="2084832" cy="868680"/>
          </a:xfrm>
          <a:prstGeom prst="roundRect">
            <a:avLst>
              <a:gd name="adj" fmla="val 6316"/>
            </a:avLst>
          </a:prstGeom>
          <a:solidFill>
            <a:srgbClr val="3A3F44"/>
          </a:solidFill>
          <a:ln w="12700">
            <a:solidFill>
              <a:srgbClr val="3A3F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51547" y="150876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436379" y="1943100"/>
            <a:ext cx="213284" cy="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649663" y="1508760"/>
            <a:ext cx="2084832" cy="868680"/>
          </a:xfrm>
          <a:prstGeom prst="roundRect">
            <a:avLst>
              <a:gd name="adj" fmla="val 631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49663" y="150876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692079" y="2377440"/>
            <a:ext cx="0" cy="50292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499616" y="2880360"/>
            <a:ext cx="9192463" cy="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57200" y="3063240"/>
            <a:ext cx="2084832" cy="868680"/>
          </a:xfrm>
          <a:prstGeom prst="roundRect">
            <a:avLst>
              <a:gd name="adj" fmla="val 631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06324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542032" y="3497580"/>
            <a:ext cx="213284" cy="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755316" y="3063240"/>
            <a:ext cx="2084832" cy="868680"/>
          </a:xfrm>
          <a:prstGeom prst="roundRect">
            <a:avLst>
              <a:gd name="adj" fmla="val 6316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55316" y="306324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0148" y="3497580"/>
            <a:ext cx="213284" cy="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053432" y="3063240"/>
            <a:ext cx="2084832" cy="868680"/>
          </a:xfrm>
          <a:prstGeom prst="roundRect">
            <a:avLst>
              <a:gd name="adj" fmla="val 631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53432" y="306324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138264" y="3497580"/>
            <a:ext cx="213284" cy="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351547" y="3063240"/>
            <a:ext cx="2084832" cy="868680"/>
          </a:xfrm>
          <a:prstGeom prst="roundRect">
            <a:avLst>
              <a:gd name="adj" fmla="val 631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51547" y="306324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436379" y="3497580"/>
            <a:ext cx="213284" cy="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649663" y="3063240"/>
            <a:ext cx="2084832" cy="868680"/>
          </a:xfrm>
          <a:prstGeom prst="roundRect">
            <a:avLst>
              <a:gd name="adj" fmla="val 631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649663" y="306324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797732" y="3931920"/>
            <a:ext cx="0" cy="685800"/>
          </a:xfrm>
          <a:prstGeom prst="line">
            <a:avLst/>
          </a:prstGeom>
          <a:noFill/>
          <a:ln w="25400">
            <a:solidFill>
              <a:srgbClr val="E36A1E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151812" y="4617720"/>
            <a:ext cx="3291840" cy="640080"/>
          </a:xfrm>
          <a:prstGeom prst="roundRect">
            <a:avLst>
              <a:gd name="adj" fmla="val 8571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51812" y="4617720"/>
            <a:ext cx="32918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(on SLA breach)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Head → GM → Chairman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48640" y="5486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runs alongside the main flow whenever a ticket's SLA is breached, independent of ticket status.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28016" cy="45720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663440" y="1417320"/>
            <a:ext cx="2834640" cy="914400"/>
          </a:xfrm>
          <a:prstGeom prst="roundRect">
            <a:avLst>
              <a:gd name="adj" fmla="val 6000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63440" y="1417320"/>
            <a:ext cx="28346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CS Ticketing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2606040" cy="502920"/>
          </a:xfrm>
          <a:prstGeom prst="roundRect">
            <a:avLst>
              <a:gd name="adj" fmla="val 10909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280160"/>
            <a:ext cx="26060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837944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truth for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and customers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052560" y="1280160"/>
            <a:ext cx="2606040" cy="502920"/>
          </a:xfrm>
          <a:prstGeom prst="roundRect">
            <a:avLst>
              <a:gd name="adj" fmla="val 10909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52560" y="1280160"/>
            <a:ext cx="26060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Genesys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052560" y="1837944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call and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data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743200"/>
            <a:ext cx="2606040" cy="502920"/>
          </a:xfrm>
          <a:prstGeom prst="roundRect">
            <a:avLst>
              <a:gd name="adj" fmla="val 10909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743200"/>
            <a:ext cx="26060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365 Email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3300984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acknowledgement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customer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2743200"/>
            <a:ext cx="2606040" cy="502920"/>
          </a:xfrm>
          <a:prstGeom prst="roundRect">
            <a:avLst>
              <a:gd name="adj" fmla="val 10909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0" y="2743200"/>
            <a:ext cx="26060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052560" y="3300984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ticket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attachments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108960" y="1536192"/>
            <a:ext cx="1554480" cy="338328"/>
          </a:xfrm>
          <a:prstGeom prst="line">
            <a:avLst/>
          </a:prstGeom>
          <a:noFill/>
          <a:ln w="25400">
            <a:solidFill>
              <a:srgbClr val="D8DC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0" y="1874520"/>
            <a:ext cx="1554480" cy="-338328"/>
          </a:xfrm>
          <a:prstGeom prst="line">
            <a:avLst/>
          </a:prstGeom>
          <a:noFill/>
          <a:ln w="25400">
            <a:solidFill>
              <a:srgbClr val="D8DC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08960" y="1874520"/>
            <a:ext cx="1554480" cy="1124712"/>
          </a:xfrm>
          <a:prstGeom prst="line">
            <a:avLst/>
          </a:prstGeom>
          <a:noFill/>
          <a:ln w="25400">
            <a:solidFill>
              <a:srgbClr val="D8DC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0" y="2999232"/>
            <a:ext cx="1554480" cy="-1124712"/>
          </a:xfrm>
          <a:prstGeom prst="line">
            <a:avLst/>
          </a:prstGeom>
          <a:noFill/>
          <a:ln w="25400">
            <a:solidFill>
              <a:srgbClr val="D8DC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416052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4434840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71600" y="436168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Outbox &amp; Idempotency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71600" y="4727448"/>
            <a:ext cx="4343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integration effect is written transactionally and dispatched safely — protecting against duplicate or lost processing on retries and outages.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63640" y="416052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537960" y="4434840"/>
            <a:ext cx="457200" cy="45720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29" name="Text 27"/>
          <p:cNvSpPr/>
          <p:nvPr/>
        </p:nvSpPr>
        <p:spPr>
          <a:xfrm>
            <a:off x="653796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132320" y="436168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Flags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132320" y="4727448"/>
            <a:ext cx="4343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integration (notably Genesys) is activated behind a feature flag — allowing safe, staged rollout without a code redeploy.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28016" cy="45720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39496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1728216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1728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50876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ASP.NET Core Identity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17320" y="1874520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authentication — no customer accounts exist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651760"/>
            <a:ext cx="539496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58952" y="3008376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3008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278892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JWT Authentication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154680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on login, validated on every API request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931920"/>
            <a:ext cx="539496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58952" y="4288536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06908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Role- &amp; Department-Based Authorization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17320" y="4434840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checked server-side against policy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5212080"/>
            <a:ext cx="539496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58952" y="5568696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758952" y="5568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534924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Approved Roles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17320" y="5715000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CS Agent through Chairman/CEO and System Administrator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63640" y="1371600"/>
            <a:ext cx="539496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19672" y="1728216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6" name="Text 24"/>
          <p:cNvSpPr/>
          <p:nvPr/>
        </p:nvSpPr>
        <p:spPr>
          <a:xfrm>
            <a:off x="6519672" y="1728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178040" y="150876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 Deactivation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178040" y="1874520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on every request, not only at login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2651760"/>
            <a:ext cx="539496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19672" y="3008376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6519672" y="3008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178040" y="278892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Audit Trail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78040" y="3154680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— no update or delete path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263640" y="3931920"/>
            <a:ext cx="539496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519672" y="4288536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6519672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178040" y="406908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Secrets &amp; Transport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178040" y="4434840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kept outside source control; HTTPS everywhere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263640" y="5212080"/>
            <a:ext cx="539496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519672" y="5568696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1" name="Text 39"/>
          <p:cNvSpPr/>
          <p:nvPr/>
        </p:nvSpPr>
        <p:spPr>
          <a:xfrm>
            <a:off x="6519672" y="5568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7178040" y="534924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Least-Privilege Access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178040" y="5715000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production credentials ever stored in GitHub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28016" cy="45720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89611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Tiger-approved hosting environment  (final hosting provider to be confirmed by Tiger IT)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26568" y="1371600"/>
            <a:ext cx="3566160" cy="4709160"/>
          </a:xfrm>
          <a:prstGeom prst="roundRect">
            <a:avLst>
              <a:gd name="adj" fmla="val 2051"/>
            </a:avLst>
          </a:prstGeom>
          <a:solidFill>
            <a:srgbClr val="F4F5F7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3728" y="1508760"/>
            <a:ext cx="3291840" cy="457200"/>
          </a:xfrm>
          <a:prstGeom prst="roundRect">
            <a:avLst>
              <a:gd name="adj" fmla="val 12000"/>
            </a:avLst>
          </a:prstGeom>
          <a:solidFill>
            <a:srgbClr val="6E7681"/>
          </a:solidFill>
          <a:ln w="12700">
            <a:solidFill>
              <a:srgbClr val="6E76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3728" y="1508760"/>
            <a:ext cx="32918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5168" y="21488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5168" y="214884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Server / Secure Gateway (IIS or Nginx)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655168" y="269748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5168" y="269748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Web / API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655168" y="324612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5168" y="324612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Jobs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655168" y="379476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5168" y="379476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020" dirty="0"/>
          </a:p>
        </p:txBody>
      </p:sp>
      <p:sp>
        <p:nvSpPr>
          <p:cNvPr id="16" name="Shape 14"/>
          <p:cNvSpPr/>
          <p:nvPr/>
        </p:nvSpPr>
        <p:spPr>
          <a:xfrm>
            <a:off x="655168" y="434340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5168" y="434340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655168" y="48920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5168" y="489204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/ Logging</a:t>
            </a:r>
            <a:endParaRPr lang="en-US" sz="1020" dirty="0"/>
          </a:p>
        </p:txBody>
      </p:sp>
      <p:sp>
        <p:nvSpPr>
          <p:cNvPr id="20" name="Shape 18"/>
          <p:cNvSpPr/>
          <p:nvPr/>
        </p:nvSpPr>
        <p:spPr>
          <a:xfrm>
            <a:off x="655168" y="544068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5168" y="544068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4312768" y="1371600"/>
            <a:ext cx="3566160" cy="4709160"/>
          </a:xfrm>
          <a:prstGeom prst="roundRect">
            <a:avLst>
              <a:gd name="adj" fmla="val 2051"/>
            </a:avLst>
          </a:prstGeom>
          <a:solidFill>
            <a:srgbClr val="F4F5F7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49928" y="1508760"/>
            <a:ext cx="3291840" cy="457200"/>
          </a:xfrm>
          <a:prstGeom prst="roundRect">
            <a:avLst>
              <a:gd name="adj" fmla="val 1200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49928" y="1508760"/>
            <a:ext cx="32918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 / Pilot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541368" y="21488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41368" y="214884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Server / Secure Gateway (IIS or Nginx)</a:t>
            </a:r>
            <a:endParaRPr lang="en-US" sz="1020" dirty="0"/>
          </a:p>
        </p:txBody>
      </p:sp>
      <p:sp>
        <p:nvSpPr>
          <p:cNvPr id="27" name="Shape 25"/>
          <p:cNvSpPr/>
          <p:nvPr/>
        </p:nvSpPr>
        <p:spPr>
          <a:xfrm>
            <a:off x="4541368" y="269748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41368" y="269748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Web / API</a:t>
            </a:r>
            <a:endParaRPr lang="en-US" sz="1020" dirty="0"/>
          </a:p>
        </p:txBody>
      </p:sp>
      <p:sp>
        <p:nvSpPr>
          <p:cNvPr id="29" name="Shape 27"/>
          <p:cNvSpPr/>
          <p:nvPr/>
        </p:nvSpPr>
        <p:spPr>
          <a:xfrm>
            <a:off x="4541368" y="324612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41368" y="324612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Jobs</a:t>
            </a:r>
            <a:endParaRPr lang="en-US" sz="1020" dirty="0"/>
          </a:p>
        </p:txBody>
      </p:sp>
      <p:sp>
        <p:nvSpPr>
          <p:cNvPr id="31" name="Shape 29"/>
          <p:cNvSpPr/>
          <p:nvPr/>
        </p:nvSpPr>
        <p:spPr>
          <a:xfrm>
            <a:off x="4541368" y="379476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41368" y="379476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020" dirty="0"/>
          </a:p>
        </p:txBody>
      </p:sp>
      <p:sp>
        <p:nvSpPr>
          <p:cNvPr id="33" name="Shape 31"/>
          <p:cNvSpPr/>
          <p:nvPr/>
        </p:nvSpPr>
        <p:spPr>
          <a:xfrm>
            <a:off x="4541368" y="434340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41368" y="434340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</a:t>
            </a:r>
            <a:endParaRPr lang="en-US" sz="1020" dirty="0"/>
          </a:p>
        </p:txBody>
      </p:sp>
      <p:sp>
        <p:nvSpPr>
          <p:cNvPr id="35" name="Shape 33"/>
          <p:cNvSpPr/>
          <p:nvPr/>
        </p:nvSpPr>
        <p:spPr>
          <a:xfrm>
            <a:off x="4541368" y="48920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41368" y="489204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/ Logging</a:t>
            </a:r>
            <a:endParaRPr lang="en-US" sz="1020" dirty="0"/>
          </a:p>
        </p:txBody>
      </p:sp>
      <p:sp>
        <p:nvSpPr>
          <p:cNvPr id="37" name="Shape 35"/>
          <p:cNvSpPr/>
          <p:nvPr/>
        </p:nvSpPr>
        <p:spPr>
          <a:xfrm>
            <a:off x="4541368" y="544068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41368" y="544068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8198968" y="1371600"/>
            <a:ext cx="3566160" cy="4709160"/>
          </a:xfrm>
          <a:prstGeom prst="roundRect">
            <a:avLst>
              <a:gd name="adj" fmla="val 2051"/>
            </a:avLst>
          </a:prstGeom>
          <a:solidFill>
            <a:srgbClr val="F4F5F7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336128" y="1508760"/>
            <a:ext cx="3291840" cy="457200"/>
          </a:xfrm>
          <a:prstGeom prst="roundRect">
            <a:avLst>
              <a:gd name="adj" fmla="val 12000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36128" y="1508760"/>
            <a:ext cx="32918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8427568" y="21488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427568" y="214884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Server / Secure Gateway (IIS or Nginx)</a:t>
            </a:r>
            <a:endParaRPr lang="en-US" sz="1020" dirty="0"/>
          </a:p>
        </p:txBody>
      </p:sp>
      <p:sp>
        <p:nvSpPr>
          <p:cNvPr id="44" name="Shape 42"/>
          <p:cNvSpPr/>
          <p:nvPr/>
        </p:nvSpPr>
        <p:spPr>
          <a:xfrm>
            <a:off x="8427568" y="269748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427568" y="269748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Web / API</a:t>
            </a:r>
            <a:endParaRPr lang="en-US" sz="1020" dirty="0"/>
          </a:p>
        </p:txBody>
      </p:sp>
      <p:sp>
        <p:nvSpPr>
          <p:cNvPr id="46" name="Shape 44"/>
          <p:cNvSpPr/>
          <p:nvPr/>
        </p:nvSpPr>
        <p:spPr>
          <a:xfrm>
            <a:off x="8427568" y="324612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427568" y="324612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Jobs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427568" y="379476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427568" y="379476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020" dirty="0"/>
          </a:p>
        </p:txBody>
      </p:sp>
      <p:sp>
        <p:nvSpPr>
          <p:cNvPr id="50" name="Shape 48"/>
          <p:cNvSpPr/>
          <p:nvPr/>
        </p:nvSpPr>
        <p:spPr>
          <a:xfrm>
            <a:off x="8427568" y="434340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427568" y="434340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</a:t>
            </a:r>
            <a:endParaRPr lang="en-US" sz="1020" dirty="0"/>
          </a:p>
        </p:txBody>
      </p:sp>
      <p:sp>
        <p:nvSpPr>
          <p:cNvPr id="52" name="Shape 50"/>
          <p:cNvSpPr/>
          <p:nvPr/>
        </p:nvSpPr>
        <p:spPr>
          <a:xfrm>
            <a:off x="8427568" y="48920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427568" y="489204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/ Logging</a:t>
            </a:r>
            <a:endParaRPr lang="en-US" sz="1020" dirty="0"/>
          </a:p>
        </p:txBody>
      </p:sp>
      <p:sp>
        <p:nvSpPr>
          <p:cNvPr id="54" name="Shape 52"/>
          <p:cNvSpPr/>
          <p:nvPr/>
        </p:nvSpPr>
        <p:spPr>
          <a:xfrm>
            <a:off x="8427568" y="544068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27568" y="544068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</a:t>
            </a:r>
            <a:endParaRPr lang="en-US" sz="1020" dirty="0"/>
          </a:p>
        </p:txBody>
      </p:sp>
      <p:sp>
        <p:nvSpPr>
          <p:cNvPr id="56" name="Text 54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28016" cy="45720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Scope and 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14500" y="1988820"/>
            <a:ext cx="8762695" cy="0"/>
          </a:xfrm>
          <a:prstGeom prst="line">
            <a:avLst/>
          </a:prstGeom>
          <a:noFill/>
          <a:ln w="38100">
            <a:solidFill>
              <a:srgbClr val="D8DC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3E7D5B"/>
          </a:solidFill>
          <a:ln w="12700">
            <a:solidFill>
              <a:srgbClr val="3E7D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63040"/>
            <a:ext cx="25146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10 solution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completed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78098" y="14630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78098" y="1463040"/>
            <a:ext cx="25146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98997" y="14630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9BA4AF"/>
          </a:solidFill>
          <a:ln w="12700">
            <a:solidFill>
              <a:srgbClr val="9BA4A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98997" y="1463040"/>
            <a:ext cx="25146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Verification &amp;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Creation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219895" y="14630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9BA4AF"/>
          </a:solidFill>
          <a:ln w="12700">
            <a:solidFill>
              <a:srgbClr val="9BA4A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19895" y="1463040"/>
            <a:ext cx="25146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Workflow, SLA/Escalation,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Genesys, Email, UI, UAT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1127729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30632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model:  </a:t>
            </a:r>
            <a:pPr algn="l" indent="0" marL="0">
              <a:buNone/>
            </a:pPr>
            <a:r>
              <a:rPr lang="en-US" sz="160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Four-week, one-developer, AI-assisted pilot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160520"/>
            <a:ext cx="5455768" cy="1737360"/>
          </a:xfrm>
          <a:prstGeom prst="roundRect">
            <a:avLst>
              <a:gd name="adj" fmla="val 4211"/>
            </a:avLst>
          </a:prstGeom>
          <a:solidFill>
            <a:srgbClr val="EAF3EC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4434840"/>
            <a:ext cx="502920" cy="502920"/>
          </a:xfrm>
          <a:prstGeom prst="ellipse">
            <a:avLst/>
          </a:prstGeom>
          <a:solidFill>
            <a:srgbClr val="3E7D5B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434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4370832"/>
            <a:ext cx="380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 (This Delivery)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17320" y="4754880"/>
            <a:ext cx="3718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functional internal proof of the approved architecture, deployed to a non-production environment for evaluation.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78728" y="4160520"/>
            <a:ext cx="5455768" cy="1737360"/>
          </a:xfrm>
          <a:prstGeom prst="roundRect">
            <a:avLst>
              <a:gd name="adj" fmla="val 4211"/>
            </a:avLst>
          </a:prstGeom>
          <a:solidFill>
            <a:srgbClr val="FDEFE6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53048" y="4434840"/>
            <a:ext cx="502920" cy="50292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22" name="Text 20"/>
          <p:cNvSpPr/>
          <p:nvPr/>
        </p:nvSpPr>
        <p:spPr>
          <a:xfrm>
            <a:off x="6553048" y="4434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38848" y="4370832"/>
            <a:ext cx="380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Ready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38848" y="4754880"/>
            <a:ext cx="3718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separate, later milestone — its own scope, hardening, and go-live approval, not implied by pilot completion.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28016" cy="45720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Risks and Management Decisions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499616"/>
            <a:ext cx="402336" cy="402336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996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80160" y="1371600"/>
            <a:ext cx="9722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and Genesys integration contract availability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57200" y="2157984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85800" y="2286000"/>
            <a:ext cx="402336" cy="402336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2157984"/>
            <a:ext cx="9722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pressure from a single-developer delivery model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57200" y="2944368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85800" y="3072384"/>
            <a:ext cx="402336" cy="402336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72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80160" y="2944368"/>
            <a:ext cx="9722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 participation from CS and department staff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57200" y="3730752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5800" y="3858768"/>
            <a:ext cx="402336" cy="402336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858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730752"/>
            <a:ext cx="9722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and target environment readiness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457200" y="4517136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" y="4645152"/>
            <a:ext cx="402336" cy="402336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46451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80160" y="4517136"/>
            <a:ext cx="9722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security review before pilot go-live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457200" y="5440680"/>
            <a:ext cx="11277295" cy="777240"/>
          </a:xfrm>
          <a:prstGeom prst="roundRect">
            <a:avLst>
              <a:gd name="adj" fmla="val 9412"/>
            </a:avLst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5440680"/>
            <a:ext cx="10728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go-live requires separate, explicit management approval.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2026-08-19T09:42:30Z</dcterms:created>
  <dcterms:modified xsi:type="dcterms:W3CDTF">2026-08-19T09:42:30Z</dcterms:modified>
</cp:coreProperties>
</file>