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0182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743200" cy="274320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018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TIGER CS TICKETING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2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Solution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82296" cy="77724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ASP.NET Core, .NET 10 (LTS)
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Pilot Architecture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5576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customer-service requests captured in a single system of record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371600"/>
            <a:ext cx="545576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98768" y="1691640"/>
            <a:ext cx="548640" cy="54864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30288" y="166420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30288" y="214884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(Genesys), CRM, and internal departments into one workflow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45576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04164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452628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SLA due dates, escalation, and resolution for every ticket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8728" y="3749040"/>
            <a:ext cx="545576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8768" y="4069080"/>
            <a:ext cx="548640" cy="54864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30288" y="4041648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30288" y="4526280"/>
            <a:ext cx="408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and management visibility across the full ticket lifecycle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2519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BOUNDARY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5039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0008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Employee / Head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99816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99816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(CS Mgr · GM · Chairman)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9624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49624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 / Reporting User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1554480"/>
            <a:ext cx="3657600" cy="4297680"/>
          </a:xfrm>
          <a:prstGeom prst="roundRect">
            <a:avLst>
              <a:gd name="adj" fmla="val 2500"/>
            </a:avLst>
          </a:prstGeom>
          <a:solidFill>
            <a:srgbClr val="EAF0FB"/>
          </a:solidFill>
          <a:ln w="25400">
            <a:solidFill>
              <a:srgbClr val="1C2B4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25196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Tiger CS Ticketing System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17720" y="219456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194560"/>
            <a:ext cx="29260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(ASP.NET Core, .NET 10)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26280" y="3108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· API · Application Modules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· Infrastructure · Integrations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84048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840480"/>
            <a:ext cx="26517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login or portal exists — all 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is agent-mediated (phone via Genesys)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an outbound email notification.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03920" y="1600200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1600200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03920" y="2350008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2350008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03920" y="3099816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3099816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 Email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503920" y="3849624"/>
            <a:ext cx="3200400" cy="603504"/>
          </a:xfrm>
          <a:prstGeom prst="roundRect">
            <a:avLst>
              <a:gd name="adj" fmla="val 9091"/>
            </a:avLst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3849624"/>
            <a:ext cx="32004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617720"/>
            <a:ext cx="32004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25400">
            <a:solidFill>
              <a:srgbClr val="E36A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177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(phone)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57600" y="4901184"/>
            <a:ext cx="594360" cy="0"/>
          </a:xfrm>
          <a:prstGeom prst="line">
            <a:avLst/>
          </a:prstGeom>
          <a:noFill/>
          <a:ln w="25400">
            <a:solidFill>
              <a:srgbClr val="E36A1E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57200" y="5257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Genesys (phone)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0" y="2788920"/>
            <a:ext cx="594360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909560" y="2743200"/>
            <a:ext cx="594360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8961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— one deployable unit, clean internal module boundaries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4415" cy="512064"/>
          </a:xfrm>
          <a:prstGeom prst="roundRect">
            <a:avLst>
              <a:gd name="adj" fmla="val 10714"/>
            </a:avLst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11094415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512064"/>
          </a:xfrm>
          <a:prstGeom prst="roundRect">
            <a:avLst>
              <a:gd name="adj" fmla="val 10714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11094415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60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MODULES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26080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71765" y="2926080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71765" y="2926080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Verification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57729" y="2926080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7729" y="2926080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43694" y="2926080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3694" y="2926080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29659" y="2926080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29659" y="2926080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Escalation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3506724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06724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Integration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71765" y="3506724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71765" y="3506724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57729" y="3506724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7729" y="3506724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43694" y="3506724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3694" y="3506724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29659" y="3506724"/>
            <a:ext cx="2076237" cy="470916"/>
          </a:xfrm>
          <a:prstGeom prst="roundRect">
            <a:avLst>
              <a:gd name="adj" fmla="val 1165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659" y="3506724"/>
            <a:ext cx="2076237" cy="47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151376"/>
            <a:ext cx="11094415" cy="512064"/>
          </a:xfrm>
          <a:prstGeom prst="roundRect">
            <a:avLst>
              <a:gd name="adj" fmla="val 10714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51376"/>
            <a:ext cx="11094415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791456"/>
            <a:ext cx="11094415" cy="512064"/>
          </a:xfrm>
          <a:prstGeom prst="roundRect">
            <a:avLst>
              <a:gd name="adj" fmla="val 10714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91456"/>
            <a:ext cx="11094415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 |   Integrations (CRM · Genesys · Email · Storage)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431536"/>
            <a:ext cx="11094415" cy="512064"/>
          </a:xfrm>
          <a:prstGeom prst="roundRect">
            <a:avLst>
              <a:gd name="adj" fmla="val 10714"/>
            </a:avLst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431536"/>
            <a:ext cx="11094415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Ticket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/ Manual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1943100"/>
            <a:ext cx="213284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55316" y="150876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5316" y="150876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0148" y="1943100"/>
            <a:ext cx="213284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53432" y="150876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3432" y="150876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8264" y="1943100"/>
            <a:ext cx="213284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51547" y="150876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3A3F44"/>
          </a:solidFill>
          <a:ln w="12700">
            <a:solidFill>
              <a:srgbClr val="3A3F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51547" y="150876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36379" y="1943100"/>
            <a:ext cx="213284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49663" y="150876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9663" y="150876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692079" y="2377440"/>
            <a:ext cx="0" cy="50292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499616" y="2880360"/>
            <a:ext cx="9192463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306324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42032" y="3497580"/>
            <a:ext cx="213284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755316" y="306324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5316" y="306324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0148" y="3497580"/>
            <a:ext cx="213284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53432" y="306324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3432" y="306324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8264" y="3497580"/>
            <a:ext cx="213284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51547" y="306324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51547" y="306324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36379" y="3497580"/>
            <a:ext cx="213284" cy="0"/>
          </a:xfrm>
          <a:prstGeom prst="line">
            <a:avLst/>
          </a:prstGeom>
          <a:noFill/>
          <a:ln w="25400">
            <a:solidFill>
              <a:srgbClr val="3A3F4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49663" y="3063240"/>
            <a:ext cx="2084832" cy="868680"/>
          </a:xfrm>
          <a:prstGeom prst="roundRect">
            <a:avLst>
              <a:gd name="adj" fmla="val 631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9663" y="306324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797732" y="3931920"/>
            <a:ext cx="0" cy="685800"/>
          </a:xfrm>
          <a:prstGeom prst="line">
            <a:avLst/>
          </a:prstGeom>
          <a:noFill/>
          <a:ln w="25400">
            <a:solidFill>
              <a:srgbClr val="E36A1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151812" y="4617720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51812" y="4617720"/>
            <a:ext cx="32918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(on SLA breach)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Head → GM → Chairman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runs alongside the main flow whenever a ticket's SLA is breached, independent of ticket status.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63440" y="141732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63440" y="1417320"/>
            <a:ext cx="28346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CS Ticketing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379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for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customers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052560" y="128016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0" y="128016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18379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call and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4320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 Email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3009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acknowledgement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customer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274320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743200"/>
            <a:ext cx="2606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52560" y="330098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ticket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0" y="1536192"/>
            <a:ext cx="1554480" cy="338328"/>
          </a:xfrm>
          <a:prstGeom prst="line">
            <a:avLst/>
          </a:prstGeom>
          <a:noFill/>
          <a:ln w="25400">
            <a:solidFill>
              <a:srgbClr val="D8DC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874520"/>
            <a:ext cx="1554480" cy="-338328"/>
          </a:xfrm>
          <a:prstGeom prst="line">
            <a:avLst/>
          </a:prstGeom>
          <a:noFill/>
          <a:ln w="25400">
            <a:solidFill>
              <a:srgbClr val="D8DC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1874520"/>
            <a:ext cx="1554480" cy="1124712"/>
          </a:xfrm>
          <a:prstGeom prst="line">
            <a:avLst/>
          </a:prstGeom>
          <a:noFill/>
          <a:ln w="25400">
            <a:solidFill>
              <a:srgbClr val="D8DC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2999232"/>
            <a:ext cx="1554480" cy="-1124712"/>
          </a:xfrm>
          <a:prstGeom prst="line">
            <a:avLst/>
          </a:prstGeom>
          <a:noFill/>
          <a:ln w="25400">
            <a:solidFill>
              <a:srgbClr val="D8DC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05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361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Outbox &amp; Idempotency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727448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effect is written transactionally and dispatched safely — protecting against duplicate or lost processing on retries and outages.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41605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37960" y="4434840"/>
            <a:ext cx="457200" cy="45720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4361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Flags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32320" y="4727448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integration (notably Genesys) is activated behind a feature flag — allowing safe, staged rollout without a code redeploy.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28216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Identity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authentication — no customer accounts exist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" y="3008376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788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on login, validated on every API request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4288536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 &amp; Department-Based Authorization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4348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checked server-side against policy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21208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5568696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349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Approved Roles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7150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CS Agent through Chairman/CEO and System Administrator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3716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19672" y="1728216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15087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Deactivation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18745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every request, not only at login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26517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9672" y="3008376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31" name="Text 29"/>
          <p:cNvSpPr/>
          <p:nvPr/>
        </p:nvSpPr>
        <p:spPr>
          <a:xfrm>
            <a:off x="6519672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78040" y="2788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31546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— no update or delete path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9319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19672" y="4288536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36" name="Text 34"/>
          <p:cNvSpPr/>
          <p:nvPr/>
        </p:nvSpPr>
        <p:spPr>
          <a:xfrm>
            <a:off x="6519672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78040" y="4069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&amp; Transport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78040" y="44348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kept outside source control; HTTPS everywhere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521208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19672" y="5568696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41" name="Text 39"/>
          <p:cNvSpPr/>
          <p:nvPr/>
        </p:nvSpPr>
        <p:spPr>
          <a:xfrm>
            <a:off x="6519672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78040" y="5349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Least-Privilege Access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78040" y="57150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credentials ever stored in GitHub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896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Tiger-approved hosting environment  (final hosting provider to be confirmed by Tiger IT)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26568" y="137160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728" y="150876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3728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5168" y="21488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8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/ Secure Gateway (IIS or Nginx)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55168" y="269748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8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/ API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55168" y="324612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168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55168" y="379476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168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55168" y="43434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8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55168" y="48920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168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Logging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55168" y="544068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168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312768" y="137160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49928" y="150876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9928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/ Pilot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41368" y="21488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1368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/ Secure Gateway (IIS or Nginx)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541368" y="269748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1368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/ API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541368" y="324612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1368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541368" y="379476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41368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541368" y="43434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1368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4541368" y="48920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41368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Logging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541368" y="544068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41368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198968" y="137160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36128" y="150876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6128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427568" y="21488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27568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/ Secure Gateway (IIS or Nginx)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8427568" y="269748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27568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/ API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8427568" y="324612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27568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8427568" y="379476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27568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8427568" y="43434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27568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8427568" y="48920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27568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Logging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8427568" y="544068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27568" y="5440680"/>
            <a:ext cx="3108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Scope and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14500" y="1988820"/>
            <a:ext cx="8762695" cy="0"/>
          </a:xfrm>
          <a:prstGeom prst="line">
            <a:avLst/>
          </a:prstGeom>
          <a:noFill/>
          <a:ln w="38100">
            <a:solidFill>
              <a:srgbClr val="D8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3E7D5B"/>
          </a:solidFill>
          <a:ln w="12700">
            <a:solidFill>
              <a:srgbClr val="3E7D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5146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solution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completed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78098" y="14630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E36A1E"/>
          </a:solidFill>
          <a:ln w="12700">
            <a:solidFill>
              <a:srgbClr val="E36A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8098" y="1463040"/>
            <a:ext cx="25146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8997" y="14630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9BA4AF"/>
          </a:solidFill>
          <a:ln w="12700">
            <a:solidFill>
              <a:srgbClr val="9BA4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8997" y="1463040"/>
            <a:ext cx="25146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Verification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19895" y="14630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9BA4AF"/>
          </a:solidFill>
          <a:ln w="12700">
            <a:solidFill>
              <a:srgbClr val="9BA4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19895" y="1463040"/>
            <a:ext cx="25146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SLA/Escalation,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Genesys, Email, UI, UAT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10896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Three-Week Internal Pilot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4564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version will be delivered for internal testing within three weeks, developed by one developer with AI-assisted development. Following successful testing and management approval, a separate production-readiness phase will prepare the system for official go-live.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5455768" cy="1600200"/>
          </a:xfrm>
          <a:prstGeom prst="roundRect">
            <a:avLst>
              <a:gd name="adj" fmla="val 4571"/>
            </a:avLst>
          </a:prstGeom>
          <a:solidFill>
            <a:srgbClr val="EAF3EC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690872"/>
            <a:ext cx="502920" cy="502920"/>
          </a:xfrm>
          <a:prstGeom prst="ellipse">
            <a:avLst/>
          </a:prstGeom>
          <a:solidFill>
            <a:srgbClr val="3E7D5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626864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(This Delivery)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010912"/>
            <a:ext cx="3718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internal proof of the approved architecture, deployed to a non-production environment for evaluation.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8728" y="4434840"/>
            <a:ext cx="5455768" cy="1600200"/>
          </a:xfrm>
          <a:prstGeom prst="roundRect">
            <a:avLst>
              <a:gd name="adj" fmla="val 4571"/>
            </a:avLst>
          </a:prstGeom>
          <a:solidFill>
            <a:srgbClr val="FDEFE6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53048" y="4690872"/>
            <a:ext cx="502920" cy="502920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23" name="Text 21"/>
          <p:cNvSpPr/>
          <p:nvPr/>
        </p:nvSpPr>
        <p:spPr>
          <a:xfrm>
            <a:off x="6553048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38848" y="4626864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Ready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38848" y="5010912"/>
            <a:ext cx="3718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later milestone — its own scope, hardening, and go-live approval, not implied by pilot completion.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457200"/>
          </a:xfrm>
          <a:prstGeom prst="rect">
            <a:avLst/>
          </a:prstGeom>
          <a:solidFill>
            <a:srgbClr val="E36A1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and Management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9616"/>
            <a:ext cx="402336" cy="402336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9722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and Genesys integration contract availability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215798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286000"/>
            <a:ext cx="402336" cy="402336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157984"/>
            <a:ext cx="9722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pressure from a single-developer delivery model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072384"/>
            <a:ext cx="402336" cy="402336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944368"/>
            <a:ext cx="9722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participation from CS and department staff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858768"/>
            <a:ext cx="402336" cy="402336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730752"/>
            <a:ext cx="9722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and target environment readiness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645152"/>
            <a:ext cx="402336" cy="402336"/>
          </a:xfrm>
          <a:prstGeom prst="ellipse">
            <a:avLst/>
          </a:prstGeom>
          <a:solidFill>
            <a:srgbClr val="E36A1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4517136"/>
            <a:ext cx="97228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security review before pilot go-live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200" y="544068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C2B4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44068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go-live requires separate, explicit management approval.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Group —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2026-08-19T10:23:28Z</dcterms:created>
  <dcterms:modified xsi:type="dcterms:W3CDTF">2026-08-19T10:23:28Z</dcterms:modified>
</cp:coreProperties>
</file>